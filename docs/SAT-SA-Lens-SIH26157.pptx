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SIH26157, NTRO/NCIIPC. NCIIPC supervises the SOCs of India's critical sector entities — power, banking, telecom, oil &amp; gas, transport. Today experts hand-sample each periodic submission. SAT-SA Lens does that first pass automatically, fully offline, and hands back a ranked, evidence-linked review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engines, one message: execution gaps catch the entity that looks effective but isn't; negative space catches what is missing; the integrity engine catches a submission that cannot be trusted at all. The stats strip is the proof line — say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 for judges: 19 detectors, every one SQL-first and explainable; the two ML components are gated behind explicit thresholds and peer comparison, so neither can raise a finding on its own numbers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risk table is the credibility slide. Each mitigation is already implemented, not planned — the air-gap, the pseudonymisation and the reproducibility all have tests behind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user story: a specific, checkable instruction beats a maturity score. The 28,545 → 50 number is the single most quotable statistic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validation line. The comparison table answers 'why not just use a SIEM dashboard' before it is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9FB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32688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SAT-SA LENS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975104"/>
            <a:ext cx="9262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analytics that tell an NCIIPC assessor which SOC, which process and which alert sample to look at — and why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615184"/>
            <a:ext cx="3401568" cy="859536"/>
          </a:xfrm>
          <a:prstGeom prst="roundRect">
            <a:avLst>
              <a:gd name="adj" fmla="val 5319"/>
            </a:avLst>
          </a:prstGeom>
          <a:solidFill>
            <a:srgbClr val="18306F"/>
          </a:solidFill>
          <a:ln w="9525">
            <a:solidFill>
              <a:srgbClr val="2F4C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752344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FA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98094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SIH26157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3692" y="2615184"/>
            <a:ext cx="3401568" cy="859536"/>
          </a:xfrm>
          <a:prstGeom prst="roundRect">
            <a:avLst>
              <a:gd name="adj" fmla="val 5319"/>
            </a:avLst>
          </a:prstGeom>
          <a:solidFill>
            <a:srgbClr val="18306F"/>
          </a:solidFill>
          <a:ln w="9525">
            <a:solidFill>
              <a:srgbClr val="2F4C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8284" y="2752344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FA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558284" y="298094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Cybersecurity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64424" y="2615184"/>
            <a:ext cx="3401568" cy="859536"/>
          </a:xfrm>
          <a:prstGeom prst="roundRect">
            <a:avLst>
              <a:gd name="adj" fmla="val 5319"/>
            </a:avLst>
          </a:prstGeom>
          <a:solidFill>
            <a:srgbClr val="18306F"/>
          </a:solidFill>
          <a:ln w="9525">
            <a:solidFill>
              <a:srgbClr val="2F4C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29016" y="2752344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FA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129016" y="298094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621024"/>
            <a:ext cx="3401568" cy="859536"/>
          </a:xfrm>
          <a:prstGeom prst="roundRect">
            <a:avLst>
              <a:gd name="adj" fmla="val 5319"/>
            </a:avLst>
          </a:prstGeom>
          <a:solidFill>
            <a:srgbClr val="18306F"/>
          </a:solidFill>
          <a:ln w="9525">
            <a:solidFill>
              <a:srgbClr val="2F4C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3758184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FA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98678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&lt;TEAM ID&gt;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3692" y="3621024"/>
            <a:ext cx="3401568" cy="859536"/>
          </a:xfrm>
          <a:prstGeom prst="roundRect">
            <a:avLst>
              <a:gd name="adj" fmla="val 5319"/>
            </a:avLst>
          </a:prstGeom>
          <a:solidFill>
            <a:srgbClr val="18306F"/>
          </a:solidFill>
          <a:ln w="9525">
            <a:solidFill>
              <a:srgbClr val="2F4C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8284" y="3758184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FA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58284" y="398678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&lt;TEAM NAME&gt;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64424" y="3621024"/>
            <a:ext cx="3401568" cy="859536"/>
          </a:xfrm>
          <a:prstGeom prst="roundRect">
            <a:avLst>
              <a:gd name="adj" fmla="val 5319"/>
            </a:avLst>
          </a:prstGeom>
          <a:solidFill>
            <a:srgbClr val="18306F"/>
          </a:solidFill>
          <a:ln w="9525">
            <a:solidFill>
              <a:srgbClr val="2F4C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3758184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FA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129016" y="398678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&lt;COLLEGE / INSTITUTE&gt;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718304"/>
            <a:ext cx="10543032" cy="969264"/>
          </a:xfrm>
          <a:prstGeom prst="roundRect">
            <a:avLst>
              <a:gd name="adj" fmla="val 4717"/>
            </a:avLst>
          </a:prstGeom>
          <a:solidFill>
            <a:srgbClr val="14285F"/>
          </a:solidFill>
          <a:ln w="9525">
            <a:solidFill>
              <a:srgbClr val="2F4C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846320"/>
            <a:ext cx="10177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FA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5084064"/>
            <a:ext cx="10177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Analytics Tool for Assessment of Security Operations Centre (SOC) Capability and Effectiveness of Critical Sector Entities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0533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E9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for NTRO  ·  National Critical Information Infrastructure Protection Centre (NCIIPC)  ·  Runs fully offline inside the assessor's enclave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11420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3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— SAT-SA LENS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94944"/>
            <a:ext cx="1142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detection engines, one peer-normalised capability scorecard, and a human supervisor who has the final word.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6547104" cy="1371600"/>
          </a:xfrm>
          <a:prstGeom prst="roundRect">
            <a:avLst>
              <a:gd name="adj" fmla="val 3333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79576"/>
            <a:ext cx="329184" cy="329184"/>
          </a:xfrm>
          <a:prstGeom prst="ellipse">
            <a:avLst/>
          </a:prstGeom>
          <a:solidFill>
            <a:srgbClr val="004AA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23444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188720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EXECUTION-GAP ENGINE   ·   D01–D09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481328"/>
            <a:ext cx="5724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Tests what the entity claims against what its own alert, case and escalation records actually show.</a:t>
            </a:r>
            <a:endParaRPr lang="en-US" sz="850" dirty="0"/>
          </a:p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Critical alerts closed manually in seconds, criticals with no escalation record, breach of the entity's own declared SLA, copy-paste investigation notes, notes with no artefact, recurring unremediated alerts, effort that never rises with severity, closures bunched inside the SLA, implausible per-analyst workload.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2532888"/>
            <a:ext cx="6547104" cy="1371600"/>
          </a:xfrm>
          <a:prstGeom prst="roundRect">
            <a:avLst>
              <a:gd name="adj" fmla="val 3333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88336"/>
            <a:ext cx="329184" cy="329184"/>
          </a:xfrm>
          <a:prstGeom prst="ellipse">
            <a:avLst/>
          </a:prstGeom>
          <a:solidFill>
            <a:srgbClr val="004AA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274320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97480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NEGATIVE-SPACE ENGINE   ·   D10–D13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90088"/>
            <a:ext cx="5724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Detects evidence that should exist and does not — the blind spot no SIEM or GRC dashboard reports.</a:t>
            </a:r>
            <a:endParaRPr lang="en-US" sz="850" dirty="0"/>
          </a:p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Critical and OT assets producing zero telemetry, MITRE ATT&amp;CK categories every peer reports but this entity never does, alert volume collapsing against its own baseline, and broken alert → case → escalation chains.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4041648"/>
            <a:ext cx="6547104" cy="1371600"/>
          </a:xfrm>
          <a:prstGeom prst="roundRect">
            <a:avLst>
              <a:gd name="adj" fmla="val 3333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197096"/>
            <a:ext cx="329184" cy="329184"/>
          </a:xfrm>
          <a:prstGeom prst="ellipse">
            <a:avLst/>
          </a:prstGeom>
          <a:solidFill>
            <a:srgbClr val="004AA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2519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206240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UNKNOWN-PATTERN &amp; INTEGRITY ENGINE   ·   D14 + Q01–Q05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498848"/>
            <a:ext cx="57241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Unsupervised IsolationForest over 13 size-invariant features, reported only with the deviating features named in plain English.</a:t>
            </a:r>
            <a:endParaRPr lang="en-US" sz="850" dirty="0"/>
          </a:p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Submission integrity: missing record-ID blocks, missing days, declared-versus-actual counts, machine-generated timestamps, and file-hash custody.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86600" y="1024128"/>
            <a:ext cx="4718304" cy="2084832"/>
          </a:xfrm>
          <a:prstGeom prst="roundRect">
            <a:avLst>
              <a:gd name="adj" fmla="val 2193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1170432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ADDRESSES THE PROBLEM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481328"/>
            <a:ext cx="43525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Replaces hand-sampling with a 100% first pass over every submitted record.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Ranks entities by peer-normalised risk, so scarce expert time goes where it matters.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Names the weak process and the exact sample to review — not just a maturity score.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Every finding links to the precise rows, so a claim is verified in seconds.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Runs air-gapped inside the assessor's enclave; no data ever leaves it.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86600" y="3246120"/>
            <a:ext cx="4718304" cy="2167128"/>
          </a:xfrm>
          <a:prstGeom prst="roundRect">
            <a:avLst>
              <a:gd name="adj" fmla="val 211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3392424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UNIQUENESS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3703320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Absence treated as evidence — negative space is a first-class signal, not an afterthought.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Every finding ships a possible innocent explanation: the tool argues against itself.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Hypothesis, never verdict — status changes only on supervisor sign-off.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Deterministic and hash-anchored: the same data and code version reproduce identical findings months later.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Peer-fairness ladder plus Wilson bounds, so a small entity is never punished for being small.</a:t>
            </a:r>
            <a:endParaRPr lang="en-US" sz="850" dirty="0"/>
          </a:p>
          <a:p>
            <a:pPr algn="l"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Proven against planted ground truth instead of opinion.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5541264"/>
            <a:ext cx="2734056" cy="822960"/>
          </a:xfrm>
          <a:prstGeom prst="roundRect">
            <a:avLst>
              <a:gd name="adj" fmla="val 5556"/>
            </a:avLst>
          </a:prstGeom>
          <a:solidFill>
            <a:srgbClr val="10256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0352" y="563270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" y="599846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C5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 mapped to 8 capability areas of SOC effectiveness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73552" y="5541264"/>
            <a:ext cx="2734056" cy="822960"/>
          </a:xfrm>
          <a:prstGeom prst="roundRect">
            <a:avLst>
              <a:gd name="adj" fmla="val 5556"/>
            </a:avLst>
          </a:prstGeom>
          <a:solidFill>
            <a:srgbClr val="10256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19856" y="563270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186,548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3419856" y="599846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C5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and 173,666 cases assessed in 35 seconds on 2 vCPU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63056" y="5541264"/>
            <a:ext cx="2734056" cy="822960"/>
          </a:xfrm>
          <a:prstGeom prst="roundRect">
            <a:avLst>
              <a:gd name="adj" fmla="val 5556"/>
            </a:avLst>
          </a:prstGeom>
          <a:solidFill>
            <a:srgbClr val="10256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563270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599846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C5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and precision against deliberately planted weaknesses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052560" y="5541264"/>
            <a:ext cx="2734056" cy="822960"/>
          </a:xfrm>
          <a:prstGeom prst="roundRect">
            <a:avLst>
              <a:gd name="adj" fmla="val 5556"/>
            </a:avLst>
          </a:prstGeom>
          <a:solidFill>
            <a:srgbClr val="10256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98864" y="563270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9198864" y="599846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C5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— 3 healthy and 2 look-alike entities left clean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" y="6391656"/>
            <a:ext cx="11420856" cy="7315"/>
          </a:xfrm>
          <a:prstGeom prst="line">
            <a:avLst/>
          </a:prstGeom>
          <a:noFill/>
          <a:ln w="12700">
            <a:solidFill>
              <a:srgbClr val="C9D6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4048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·  Idea Submission  ·  Problem Statement SIH26157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232904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SAT-SA LENS   ·   &lt;TEAM NAME&gt;   ·   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11420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3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94944"/>
            <a:ext cx="1142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by construction: a single-file analytical database, 19 explainable detectors and two locally bundled models — no runtime call ever leaves the machine.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4992624" cy="2852928"/>
          </a:xfrm>
          <a:prstGeom prst="roundRect">
            <a:avLst>
              <a:gd name="adj" fmla="val 1603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70432"/>
            <a:ext cx="4626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975104" y="14813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TypeScript · Vite · Tailwind · Recharts · TanStack Table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059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975104" y="18059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· FastAPI · Uvicorn · Pydantic v2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30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1305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 single-file OLAP · pandas · SQL-first aggregation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4551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ML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975104" y="24551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IsolationForest · sentence-transformers MiniLM (local) · Wilson interval · robust z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779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975104" y="27797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 evidence pack · seeded CSV review sample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1043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31043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· nginx · internal-only container network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PRIVACY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975104" y="3429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Salted SHA-256 pseudonymisation · file-hash custody · append-only audit log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41264" y="1024128"/>
            <a:ext cx="6263640" cy="2852928"/>
          </a:xfrm>
          <a:prstGeom prst="roundRect">
            <a:avLst>
              <a:gd name="adj" fmla="val 1603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24144" y="1170432"/>
            <a:ext cx="5897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SCORING MODEL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24144" y="148132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97296" y="1531620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214616" y="148132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87768" y="1531620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705088" y="148132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0" y="1531620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195560" y="148132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68712" y="1531620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24144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97296" y="1897380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operations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214616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87768" y="1897380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oversight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70508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0" y="1897380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discipline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195560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68712" y="1897380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resilience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724144" y="2322576"/>
            <a:ext cx="5897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76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GROUP   </a:t>
            </a:r>
            <a:endParaRPr lang="en-US" sz="760" dirty="0"/>
          </a:p>
          <a:p>
            <a:pPr algn="l" indent="0" marL="0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+ size tier, widened to sector → tier → portfolio when a group is too small; the level used is on every finding.</a:t>
            </a:r>
            <a:endParaRPr lang="en-US" sz="760" dirty="0"/>
          </a:p>
          <a:p>
            <a:pPr algn="l" indent="0" marL="0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76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  </a:t>
            </a:r>
            <a:endParaRPr lang="en-US" sz="760" dirty="0"/>
          </a:p>
          <a:p>
            <a:pPr algn="l" indent="0" marL="0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severity (30/18/9) × confidence · capability = 100·e^(−Σw/34) · entity risk = 100·(1−e^(−Σw/62)) → High / Medium / Low.</a:t>
            </a:r>
            <a:endParaRPr lang="en-US" sz="760" dirty="0"/>
          </a:p>
          <a:p>
            <a:pPr algn="l" indent="0" marL="0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76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  </a:t>
            </a:r>
            <a:endParaRPr lang="en-US" sz="760" dirty="0"/>
          </a:p>
          <a:p>
            <a:pPr algn="l" indent="0" marL="0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sample counts, Wilson lower bound and empirical-Bayes shrinkage; confidence is capped below 1.0 by design.</a:t>
            </a:r>
            <a:endParaRPr lang="en-US" sz="760" dirty="0"/>
          </a:p>
          <a:p>
            <a:pPr algn="l" indent="0" marL="0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76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  </a:t>
            </a:r>
            <a:endParaRPr lang="en-US" sz="760" dirty="0"/>
          </a:p>
          <a:p>
            <a:pPr algn="l" indent="0" marL="0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spread across 30-day windows by where its evidence falls in time.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384048" y="3968496"/>
            <a:ext cx="11420856" cy="1408176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4069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35624" y="4087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 + same code version → byte-identical findings (enforced by test)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" y="4407408"/>
            <a:ext cx="1443838" cy="914400"/>
          </a:xfrm>
          <a:prstGeom prst="roundRect">
            <a:avLst>
              <a:gd name="adj" fmla="val 50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51687" y="4471416"/>
            <a:ext cx="237744" cy="237744"/>
          </a:xfrm>
          <a:prstGeom prst="ellipse">
            <a:avLst/>
          </a:prstGeom>
          <a:solidFill>
            <a:srgbClr val="10256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151687" y="44805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03504" y="4745736"/>
            <a:ext cx="133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612648" y="4928616"/>
            <a:ext cx="1315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CSV / JSON export in any vendor schema</a:t>
            </a:r>
            <a:endParaRPr lang="en-US" sz="680" dirty="0"/>
          </a:p>
        </p:txBody>
      </p:sp>
      <p:sp>
        <p:nvSpPr>
          <p:cNvPr id="47" name="Text 45"/>
          <p:cNvSpPr txBox="1"/>
          <p:nvPr/>
        </p:nvSpPr>
        <p:spPr>
          <a:xfrm>
            <a:off x="1992478" y="47183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157070" y="4407408"/>
            <a:ext cx="1443838" cy="914400"/>
          </a:xfrm>
          <a:prstGeom prst="roundRect">
            <a:avLst>
              <a:gd name="adj" fmla="val 50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60116" y="4471416"/>
            <a:ext cx="237744" cy="237744"/>
          </a:xfrm>
          <a:prstGeom prst="ellipse">
            <a:avLst/>
          </a:prstGeom>
          <a:solidFill>
            <a:srgbClr val="10256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760116" y="44805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2211934" y="4745736"/>
            <a:ext cx="133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 MAP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2221078" y="4928616"/>
            <a:ext cx="1315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column match + P1–P5 severity mapping, saved per entity</a:t>
            </a:r>
            <a:endParaRPr lang="en-US" sz="680" dirty="0"/>
          </a:p>
        </p:txBody>
      </p:sp>
      <p:sp>
        <p:nvSpPr>
          <p:cNvPr id="53" name="Text 51"/>
          <p:cNvSpPr txBox="1"/>
          <p:nvPr/>
        </p:nvSpPr>
        <p:spPr>
          <a:xfrm>
            <a:off x="3600907" y="47183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765499" y="4407408"/>
            <a:ext cx="1443838" cy="914400"/>
          </a:xfrm>
          <a:prstGeom prst="roundRect">
            <a:avLst>
              <a:gd name="adj" fmla="val 50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68546" y="4471416"/>
            <a:ext cx="237744" cy="237744"/>
          </a:xfrm>
          <a:prstGeom prst="ellipse">
            <a:avLst/>
          </a:prstGeom>
          <a:solidFill>
            <a:srgbClr val="10256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368546" y="44805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820363" y="4745736"/>
            <a:ext cx="133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3829507" y="4928616"/>
            <a:ext cx="1315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schema, pseudonymisation, SHA-256 custody</a:t>
            </a:r>
            <a:endParaRPr lang="en-US" sz="680" dirty="0"/>
          </a:p>
        </p:txBody>
      </p:sp>
      <p:sp>
        <p:nvSpPr>
          <p:cNvPr id="59" name="Text 57"/>
          <p:cNvSpPr txBox="1"/>
          <p:nvPr/>
        </p:nvSpPr>
        <p:spPr>
          <a:xfrm>
            <a:off x="5209337" y="47183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5373929" y="4407408"/>
            <a:ext cx="1443838" cy="914400"/>
          </a:xfrm>
          <a:prstGeom prst="roundRect">
            <a:avLst>
              <a:gd name="adj" fmla="val 50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76976" y="4471416"/>
            <a:ext cx="237744" cy="237744"/>
          </a:xfrm>
          <a:prstGeom prst="ellipse">
            <a:avLst/>
          </a:prstGeom>
          <a:solidFill>
            <a:srgbClr val="10256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5976976" y="44805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428793" y="4745736"/>
            <a:ext cx="133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5437937" y="4928616"/>
            <a:ext cx="1315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detectors over DuckDB views; one failure never stops the run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6817766" y="47183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982358" y="4407408"/>
            <a:ext cx="1443838" cy="914400"/>
          </a:xfrm>
          <a:prstGeom prst="roundRect">
            <a:avLst>
              <a:gd name="adj" fmla="val 50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5405" y="4471416"/>
            <a:ext cx="237744" cy="237744"/>
          </a:xfrm>
          <a:prstGeom prst="ellipse">
            <a:avLst/>
          </a:prstGeom>
          <a:solidFill>
            <a:srgbClr val="10256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585405" y="44805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7037222" y="4745736"/>
            <a:ext cx="133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7046366" y="4928616"/>
            <a:ext cx="1315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normalisation, capability scorecard, risk band, trend</a:t>
            </a:r>
            <a:endParaRPr lang="en-US" sz="680" dirty="0"/>
          </a:p>
        </p:txBody>
      </p:sp>
      <p:sp>
        <p:nvSpPr>
          <p:cNvPr id="71" name="Text 69"/>
          <p:cNvSpPr txBox="1"/>
          <p:nvPr/>
        </p:nvSpPr>
        <p:spPr>
          <a:xfrm>
            <a:off x="8426196" y="47183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8590788" y="4407408"/>
            <a:ext cx="1443838" cy="914400"/>
          </a:xfrm>
          <a:prstGeom prst="roundRect">
            <a:avLst>
              <a:gd name="adj" fmla="val 50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93835" y="4471416"/>
            <a:ext cx="237744" cy="237744"/>
          </a:xfrm>
          <a:prstGeom prst="ellipse">
            <a:avLst/>
          </a:prstGeom>
          <a:solidFill>
            <a:srgbClr val="10256D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193835" y="44805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8645652" y="4745736"/>
            <a:ext cx="133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8654796" y="4928616"/>
            <a:ext cx="1315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table, valid / not valid, 70-30 review sample</a:t>
            </a:r>
            <a:endParaRPr lang="en-US" sz="680" dirty="0"/>
          </a:p>
        </p:txBody>
      </p:sp>
      <p:sp>
        <p:nvSpPr>
          <p:cNvPr id="77" name="Text 75"/>
          <p:cNvSpPr txBox="1"/>
          <p:nvPr/>
        </p:nvSpPr>
        <p:spPr>
          <a:xfrm>
            <a:off x="10034626" y="47183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10199218" y="4407408"/>
            <a:ext cx="1443838" cy="914400"/>
          </a:xfrm>
          <a:prstGeom prst="roundRect">
            <a:avLst>
              <a:gd name="adj" fmla="val 50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802264" y="4471416"/>
            <a:ext cx="237744" cy="237744"/>
          </a:xfrm>
          <a:prstGeom prst="ellipse">
            <a:avLst/>
          </a:prstGeom>
          <a:solidFill>
            <a:srgbClr val="10256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0802264" y="44805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10254082" y="4745736"/>
            <a:ext cx="13341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10263226" y="4928616"/>
            <a:ext cx="1315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with run ID + data hash, and an append-only audit trail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384048" y="5468112"/>
            <a:ext cx="2738628" cy="841248"/>
          </a:xfrm>
          <a:prstGeom prst="roundRect">
            <a:avLst>
              <a:gd name="adj" fmla="val 5435"/>
            </a:avLst>
          </a:prstGeom>
          <a:solidFill>
            <a:srgbClr val="DCE6F7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512064" y="55504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GAPS   ·   D01–D09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512064" y="574243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critical closure · no escalation · commitment breach · template notes · shallow notes · recurring unremediated · effort–severity mismatch · SLA gaming · analyst workload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3278124" y="5468112"/>
            <a:ext cx="2738628" cy="841248"/>
          </a:xfrm>
          <a:prstGeom prst="roundRect">
            <a:avLst>
              <a:gd name="adj" fmla="val 5435"/>
            </a:avLst>
          </a:prstGeom>
          <a:solidFill>
            <a:srgbClr val="DCE6F7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3406140" y="55504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SPACE   ·   D10–D13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3406140" y="574243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critical assets · missing ATT&amp;CK categories · volume collapse · broken alert–case–escalation chains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6172200" y="5468112"/>
            <a:ext cx="2738628" cy="841248"/>
          </a:xfrm>
          <a:prstGeom prst="roundRect">
            <a:avLst>
              <a:gd name="adj" fmla="val 5435"/>
            </a:avLst>
          </a:prstGeom>
          <a:solidFill>
            <a:srgbClr val="DCE6F7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6300216" y="55504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PATTERNS   ·   D14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6300216" y="574243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 on size-invariant features, explained feature by feature against the peer median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9066276" y="5468112"/>
            <a:ext cx="2738628" cy="841248"/>
          </a:xfrm>
          <a:prstGeom prst="roundRect">
            <a:avLst>
              <a:gd name="adj" fmla="val 5435"/>
            </a:avLst>
          </a:prstGeom>
          <a:solidFill>
            <a:srgbClr val="DCE6F7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9194292" y="55504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INTEGRITY   ·   Q01–Q05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9194292" y="574243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gaps · missing days · declared vs actual counts · timestamp granularity · file-hash custody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384048" y="6391656"/>
            <a:ext cx="11420856" cy="7315"/>
          </a:xfrm>
          <a:prstGeom prst="line">
            <a:avLst/>
          </a:prstGeom>
          <a:noFill/>
          <a:ln w="12700">
            <a:solidFill>
              <a:srgbClr val="C9D6EE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84048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·  Idea Submission  ·  Problem Statement SIH26157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7232904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SAT-SA LENS   ·   &lt;TEAM NAME&gt;   ·   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11420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3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94944"/>
            <a:ext cx="1142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end-to-end prototype today: generated corpus, ingest, 19 detectors, scoring, dashboard, evidence pack — and an air-gap that has been demonstrated, not just asserted.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3696919" cy="1828800"/>
          </a:xfrm>
          <a:prstGeom prst="roundRect">
            <a:avLst>
              <a:gd name="adj" fmla="val 25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70432"/>
            <a:ext cx="33311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3331159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Working prototype, not a mock-up: ingest → detect → score → report runs end to end.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186,548 alerts and 173,666 cases across 12 entities analysed in 35 seconds on 2 vCPU.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62 backend and 7 frontend tests green; every detector has a must-not-flag test.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Re-running on unchanged data reproduces byte-identical findings — proven by test.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45559" y="1024128"/>
            <a:ext cx="3696919" cy="1828800"/>
          </a:xfrm>
          <a:prstGeom prst="roundRect">
            <a:avLst>
              <a:gd name="adj" fmla="val 25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8439" y="1170432"/>
            <a:ext cx="33311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FEASIBILITY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28439" y="1481328"/>
            <a:ext cx="3331159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One command to stand up: docker compose up. First start seeds, ingests and analyses on its own.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Air-gapped operation verified — the backend container has no network route at all.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CPU-only, no GPU, no accelerator, no external service dependency.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Foreign vendor exports are profiled and mapped automatically; the mapping is saved per entity.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107070" y="1024128"/>
            <a:ext cx="3696919" cy="1828800"/>
          </a:xfrm>
          <a:prstGeom prst="roundRect">
            <a:avLst>
              <a:gd name="adj" fmla="val 2500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9950" y="1170432"/>
            <a:ext cx="33311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89950" y="1481328"/>
            <a:ext cx="3331159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Entirely open-source stack — zero licence cost, no per-seat or per-GB pricing.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Commodity host: 2 vCPU / 4 GB minimum, 4 GB disk. No specialised hardware.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Replaces manual sampling effort that scales linearly with the number of entities.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Reusable across sectors, States and UTs; rules are version-controlled centrally.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2962656"/>
            <a:ext cx="11420856" cy="768096"/>
          </a:xfrm>
          <a:prstGeom prst="roundRect">
            <a:avLst>
              <a:gd name="adj" fmla="val 5952"/>
            </a:avLst>
          </a:prstGeom>
          <a:solidFill>
            <a:srgbClr val="DCE6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044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FRAMEWORK ALIGNMENT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310128"/>
            <a:ext cx="1301877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60420"/>
            <a:ext cx="11555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960245" y="3310128"/>
            <a:ext cx="1301877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33397" y="3360420"/>
            <a:ext cx="11555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53562" y="3310128"/>
            <a:ext cx="1301877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6714" y="3360420"/>
            <a:ext cx="11555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27035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46879" y="3310128"/>
            <a:ext cx="1301877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20031" y="3360420"/>
            <a:ext cx="11555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40196" y="3310128"/>
            <a:ext cx="1301877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3348" y="3360420"/>
            <a:ext cx="11555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CERT-In Directions 2022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533513" y="3310128"/>
            <a:ext cx="1301877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06665" y="3360420"/>
            <a:ext cx="11555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NCIIPC CII Guidelines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926830" y="3310128"/>
            <a:ext cx="1301877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99982" y="3360420"/>
            <a:ext cx="11555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Act 2023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320147" y="3310128"/>
            <a:ext cx="1301877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93299" y="3360420"/>
            <a:ext cx="11555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SOC-CMM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4048" y="3822192"/>
            <a:ext cx="11420856" cy="2505456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39410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&amp; RISKS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144768" y="39410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TO OVERCOME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" y="4192524"/>
            <a:ext cx="11201400" cy="338328"/>
          </a:xfrm>
          <a:prstGeom prst="roundRect">
            <a:avLst>
              <a:gd name="adj" fmla="val 8108"/>
            </a:avLst>
          </a:prstGeom>
          <a:solidFill>
            <a:srgbClr val="F6F8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" y="424281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peer group can be too small to compare fairly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5779008" y="42428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144768" y="4224528"/>
            <a:ext cx="5458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fallback ladder — sector + tier → sector → tier → portfolio — with minimum sample counts and a Wilson lower bound; the comparison level used is printed on every finding.</a:t>
            </a:r>
            <a:endParaRPr lang="en-US" sz="78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902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entity exports a different schema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779008" y="45902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144768" y="4572000"/>
            <a:ext cx="5458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 is profiled on upload and columns plus P1–P5 severity labels are matched automatically; the confirmed mapping is stored per entity and reused next time.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93776" y="4887468"/>
            <a:ext cx="11201400" cy="338328"/>
          </a:xfrm>
          <a:prstGeom prst="roundRect">
            <a:avLst>
              <a:gd name="adj" fmla="val 8108"/>
            </a:avLst>
          </a:prstGeom>
          <a:solidFill>
            <a:srgbClr val="F6F8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6928" y="493776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flag could unfairly damage an entity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779008" y="49377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144768" y="4919472"/>
            <a:ext cx="5458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a verdict. Each finding carries a stated innocent explanation and stays a hypothesis until a supervisor marks it valid; dismissing it re-scores immediately.</a:t>
            </a:r>
            <a:endParaRPr lang="en-US" sz="78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28523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entity could tune detections down to look clean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779008" y="52852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144768" y="5266944"/>
            <a:ext cx="5458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precisely what the negative-space and integrity detectors are for: silence, missing ATT&amp;CK categories and a collapsing baseline are themselves the signal.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93776" y="5582412"/>
            <a:ext cx="11201400" cy="338328"/>
          </a:xfrm>
          <a:prstGeom prst="roundRect">
            <a:avLst>
              <a:gd name="adj" fmla="val 8108"/>
            </a:avLst>
          </a:prstGeom>
          <a:solidFill>
            <a:srgbClr val="F6F8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66928" y="563270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may carry personal data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779008" y="56327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144768" y="5614416"/>
            <a:ext cx="5458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names, usernames and IP addresses are pseudonymised with a salted SHA-256 at ingest — inside free-text notes too — before any row is stored. Enforced by test.</a:t>
            </a:r>
            <a:endParaRPr lang="en-US" sz="780" dirty="0"/>
          </a:p>
        </p:txBody>
      </p:sp>
      <p:sp>
        <p:nvSpPr>
          <p:cNvPr id="52" name="Text 50"/>
          <p:cNvSpPr txBox="1"/>
          <p:nvPr/>
        </p:nvSpPr>
        <p:spPr>
          <a:xfrm>
            <a:off x="566928" y="598017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inside the assessment enclave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779008" y="59801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144768" y="5961888"/>
            <a:ext cx="5458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8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offline: bundled model and fonts, internal-only container network, and a build-time scan that fails if any fetchable external URL appears in the shipped code.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84048" y="6391656"/>
            <a:ext cx="11420856" cy="7315"/>
          </a:xfrm>
          <a:prstGeom prst="line">
            <a:avLst/>
          </a:prstGeom>
          <a:noFill/>
          <a:ln w="12700">
            <a:solidFill>
              <a:srgbClr val="C9D6E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84048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·  Idea Submission  ·  Problem Statement SIH26157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7232904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SAT-SA LENS   ·   &lt;TEAM NAME&gt;   ·   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11420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3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94944"/>
            <a:ext cx="1142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submission serves three audiences: the assessor gets a ranked queue, the entity gets a specific and checkable instruction, and the sector gets comparable evidence over time.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3696919" cy="1810512"/>
          </a:xfrm>
          <a:prstGeom prst="roundRect">
            <a:avLst>
              <a:gd name="adj" fmla="val 2525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70432"/>
            <a:ext cx="33311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NCIIPC / NTRO ASSESSOR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33311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Full-population first pass instead of a hand-picked sample — nothing is reviewed by chance.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Entities ranked by peer-normalised risk with the top three reasons in plain English.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 50-record review sample: 70% highest-risk evidence, 30% seeded random control.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Court-and-audit-grade evidence pack: run ID, rule version and data hash on every page.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45559" y="1024128"/>
            <a:ext cx="3696919" cy="1810512"/>
          </a:xfrm>
          <a:prstGeom prst="roundRect">
            <a:avLst>
              <a:gd name="adj" fmla="val 2525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8439" y="1170432"/>
            <a:ext cx="33311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SECTOR ENTITY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28439" y="1481328"/>
            <a:ext cx="33311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Receives a specific, checkable instruction instead of a generic 'improve your SOC'.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Sees exactly which capability area is weak and against which comparable peers.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Can rebut with evidence — the innocent explanation is offered, not withheld.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Repeat assessments are comparable, so genuine improvement is visible.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107070" y="1024128"/>
            <a:ext cx="3696919" cy="1810512"/>
          </a:xfrm>
          <a:prstGeom prst="roundRect">
            <a:avLst>
              <a:gd name="adj" fmla="val 2525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9950" y="1170432"/>
            <a:ext cx="33311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&amp; NATIONAL RESILIENCE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89950" y="1481328"/>
            <a:ext cx="33311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Systemic blind spots become visible across a sector, not one entity at a time.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Unmonitored critical and OT assets are surfaced before an incident finds them.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Consistent supervisory yardstick across sectors, States and UTs.</a:t>
            </a:r>
            <a:endParaRPr lang="en-US" sz="800" dirty="0"/>
          </a:p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Strengthens assurance for CERT-In and NCIIPC reporting duties.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2980944"/>
            <a:ext cx="2738628" cy="1078992"/>
          </a:xfrm>
          <a:prstGeom prst="roundRect">
            <a:avLst>
              <a:gd name="adj" fmla="val 4237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30815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SOCIETAL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" y="3310128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6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Better-defended power, banking, telecom, transport and oil &amp; gas services for citizens; fewer outages caused by a weakness that was visible in the data all along.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3278124" y="2980944"/>
            <a:ext cx="2738628" cy="1078992"/>
          </a:xfrm>
          <a:prstGeom prst="roundRect">
            <a:avLst>
              <a:gd name="adj" fmla="val 4237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4428" y="30815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424428" y="3310128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6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Licence-free and hardware-light. Supervisory effort scales with findings, not with the number of entities onboarded.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6172200" y="2980944"/>
            <a:ext cx="2738628" cy="1078992"/>
          </a:xfrm>
          <a:prstGeom prst="roundRect">
            <a:avLst>
              <a:gd name="adj" fmla="val 4237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30815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3310128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6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national, repeatable yardstick for SOC effectiveness, with an audit trail that survives a change of officer or of government.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9066276" y="2980944"/>
            <a:ext cx="2738628" cy="1078992"/>
          </a:xfrm>
          <a:prstGeom prst="roundRect">
            <a:avLst>
              <a:gd name="adj" fmla="val 4237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12580" y="30815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212580" y="3310128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76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subjective review into a hypothesis-driven, evidence-linked one — and keeps the human decision where it belongs.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384048" y="4187952"/>
            <a:ext cx="7818120" cy="2139696"/>
          </a:xfrm>
          <a:prstGeom prst="roundRect">
            <a:avLst>
              <a:gd name="adj" fmla="val 2137"/>
            </a:avLst>
          </a:prstGeom>
          <a:solidFill>
            <a:srgbClr val="10256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3504" y="4297680"/>
            <a:ext cx="7379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9C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   ·   A POWER-SECTOR ENTITY, QUARTERLY SUBMISSION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" y="4590288"/>
            <a:ext cx="737920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60" dirty="0">
                <a:solidFill>
                  <a:srgbClr val="E4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entity uploads its quarterly SOC extract in its vendor's own format. SAT-SA Lens maps the columns automatically, pseudonymises every analyst name and IP on the way in, and ranks the entity third of twelve.</a:t>
            </a:r>
            <a:endParaRPr lang="en-US" sz="860" dirty="0"/>
          </a:p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60" dirty="0">
                <a:solidFill>
                  <a:srgbClr val="E4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capability radar shows Escalation at 29 / 100. The reason is one sentence: 42.6% of closed critical alerts (1,253 of 2,939) carry no escalation record at all, against 5.1% across its peer group — while the entity's own declared commitment is fifteen minutes.</a:t>
            </a:r>
            <a:endParaRPr lang="en-US" sz="860" dirty="0"/>
          </a:p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60" dirty="0">
                <a:solidFill>
                  <a:srgbClr val="E4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assessor opens the 1,253 case IDs behind that number, reads the possible innocent explanation, generates a 50-record review sample and exports the evidence pack. Six months later the same data and the same rule version reproduce that finding exactly.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8458200" y="4187952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04504" y="427024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28,545 → 50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604504" y="452628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in the submission versus records the assessor actually has to read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458200" y="4919472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04504" y="50017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seconds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04504" y="52578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assess an entire twelve-entity portfolio end to end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458200" y="5650992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04504" y="57332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604504" y="59893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submitted records covered by the first pass, not a sample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84048" y="6391656"/>
            <a:ext cx="11420856" cy="7315"/>
          </a:xfrm>
          <a:prstGeom prst="line">
            <a:avLst/>
          </a:prstGeom>
          <a:noFill/>
          <a:ln w="12700">
            <a:solidFill>
              <a:srgbClr val="C9D6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4048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·  Idea Submission  ·  Problem Statement SIH26157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232904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SAT-SA LENS   ·   &lt;TEAM NAME&gt;   ·   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11420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3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694944"/>
            <a:ext cx="1142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published supervisory practice, open standards and reproducible methods — and measured against a corpus in which the correct answer is known exactly.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4846320" cy="1993392"/>
          </a:xfrm>
          <a:prstGeom prst="roundRect">
            <a:avLst>
              <a:gd name="adj" fmla="val 2294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704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STANDARDS, LAW &amp; GUIDELINES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4480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NCIIPC — Guidelines for Protection of Critical Information Infrastructure; Roles &amp; Responsibilities of CISOs.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CERT-In Directions under §70B(6), 28 April 2022 — logging, incident reporting timelines.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NIST CSF 2.0 (2024); NIST SP 800-61r3 — incident handling.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ISO/IEC 27001:2022 · ISO/IEC 27035-1/2 — incident management.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MITRE ATT&amp;CK Enterprise — tactic taxonomy used for category coverage.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Digital Personal Data Protection Act, 2023 — data minimisation on ingest.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3154680"/>
            <a:ext cx="4846320" cy="2148840"/>
          </a:xfrm>
          <a:prstGeom prst="roundRect">
            <a:avLst>
              <a:gd name="adj" fmla="val 2128"/>
            </a:avLst>
          </a:prstGeom>
          <a:solidFill>
            <a:srgbClr val="EEF2FA"/>
          </a:solidFill>
          <a:ln w="9525">
            <a:solidFill>
              <a:srgbClr val="C9D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3009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TECHNICAL BASIS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611880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SOC-CMM (Van Os) — capability dimensions behind the eight assessment areas.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Liu, Ting &amp; Zhou, Isolation Forest, ICDM 2008 — unsupervised outlier detection.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Reimers &amp; Gurevych, Sentence-BERT, EMNLP 2019 — all-MiniLM-L6-v2 note similarity.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Wilson (1927) score interval — small-sample protection on every rate.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Efron &amp; Morris — empirical-Bayes shrinkage toward the peer mean.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Benford / granularity tests — inspiration for the timestamp-regularity check.</a:t>
            </a:r>
            <a:endParaRPr lang="en-US" sz="800" dirty="0"/>
          </a:p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3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DuckDB (Raasveldt &amp; Mühleisen) — in-process OLAP for single-file analytics.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024128"/>
            <a:ext cx="6318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EXISTING APPROACHES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316736"/>
            <a:ext cx="6318504" cy="457200"/>
          </a:xfrm>
          <a:prstGeom prst="roundRect">
            <a:avLst>
              <a:gd name="adj" fmla="val 8000"/>
            </a:avLst>
          </a:prstGeom>
          <a:solidFill>
            <a:srgbClr val="10256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59552" y="1389888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740" dirty="0"/>
          </a:p>
        </p:txBody>
      </p:sp>
      <p:sp>
        <p:nvSpPr>
          <p:cNvPr id="13" name="Text 11"/>
          <p:cNvSpPr txBox="1"/>
          <p:nvPr/>
        </p:nvSpPr>
        <p:spPr>
          <a:xfrm>
            <a:off x="7781544" y="138988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/ SOAR</a:t>
            </a:r>
            <a:endParaRPr lang="en-US" sz="740" dirty="0"/>
          </a:p>
          <a:p>
            <a:pPr algn="ctr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740" dirty="0"/>
          </a:p>
        </p:txBody>
      </p:sp>
      <p:sp>
        <p:nvSpPr>
          <p:cNvPr id="14" name="Text 12"/>
          <p:cNvSpPr txBox="1"/>
          <p:nvPr/>
        </p:nvSpPr>
        <p:spPr>
          <a:xfrm>
            <a:off x="8805672" y="138988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&amp; audit</a:t>
            </a:r>
            <a:endParaRPr lang="en-US" sz="740" dirty="0"/>
          </a:p>
          <a:p>
            <a:pPr algn="ctr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740" dirty="0"/>
          </a:p>
        </p:txBody>
      </p:sp>
      <p:sp>
        <p:nvSpPr>
          <p:cNvPr id="15" name="Text 13"/>
          <p:cNvSpPr txBox="1"/>
          <p:nvPr/>
        </p:nvSpPr>
        <p:spPr>
          <a:xfrm>
            <a:off x="9829800" y="138988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SOC-CMM</a:t>
            </a:r>
            <a:endParaRPr lang="en-US" sz="740" dirty="0"/>
          </a:p>
          <a:p>
            <a:pPr algn="ctr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</a:t>
            </a:r>
            <a:endParaRPr lang="en-US" sz="740" dirty="0"/>
          </a:p>
        </p:txBody>
      </p:sp>
      <p:sp>
        <p:nvSpPr>
          <p:cNvPr id="16" name="Text 14"/>
          <p:cNvSpPr txBox="1"/>
          <p:nvPr/>
        </p:nvSpPr>
        <p:spPr>
          <a:xfrm>
            <a:off x="10853928" y="138988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SAT-SA</a:t>
            </a:r>
            <a:endParaRPr lang="en-US" sz="740" dirty="0"/>
          </a:p>
          <a:p>
            <a:pPr algn="ctr" indent="0" marL="0">
              <a:lnSpc>
                <a:spcPts val="88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486400" y="1773936"/>
            <a:ext cx="6318504" cy="306324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59552" y="1824228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Full-population review of every submitted record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854696" y="1824228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54696" y="185440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878824" y="1824228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78824" y="185440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902952" y="1824228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02952" y="185440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927080" y="1824228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27080" y="185440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5559552" y="213055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missing evidence (negative space)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7854696" y="2130552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54696" y="216072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878824" y="2130552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878824" y="216072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902952" y="2130552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02952" y="216072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927080" y="2130552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927080" y="216072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0" y="2386584"/>
            <a:ext cx="6318504" cy="306324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559552" y="2436876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Peer-normalised comparison across entities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7854696" y="2436876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854696" y="246705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878824" y="2436876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78824" y="246705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902952" y="2436876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902952" y="246705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0927080" y="2436876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927080" y="246705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5559552" y="274320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evidence rows attached to every finding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854696" y="2743200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854696" y="2773375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878824" y="2743200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878824" y="2773375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902952" y="2743200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902952" y="2773375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927080" y="2743200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927080" y="2773375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486400" y="2999232"/>
            <a:ext cx="6318504" cy="306324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559552" y="3049524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a possible innocent explanation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7854696" y="3049524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854696" y="3079699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878824" y="3049524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878824" y="3079699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902952" y="3049524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902952" y="3079699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927080" y="3049524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927080" y="3079699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5559552" y="3355848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+ hash-anchored for audit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7854696" y="3355848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7854696" y="338602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8878824" y="3355848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878824" y="338602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9902952" y="3355848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9902952" y="338602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10927080" y="3355848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0927080" y="338602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486400" y="3611880"/>
            <a:ext cx="6318504" cy="306324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5559552" y="366217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fully air-gapped with no external service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7854696" y="3662172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854696" y="369234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8878824" y="3662172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8878824" y="369234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902952" y="3662172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9902952" y="369234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0927080" y="3662172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927080" y="369234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84" name="Text 82"/>
          <p:cNvSpPr txBox="1"/>
          <p:nvPr/>
        </p:nvSpPr>
        <p:spPr>
          <a:xfrm>
            <a:off x="5559552" y="3968496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6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against known planted weaknesses</a:t>
            </a:r>
            <a:endParaRPr lang="en-US" sz="760" dirty="0"/>
          </a:p>
        </p:txBody>
      </p:sp>
      <p:sp>
        <p:nvSpPr>
          <p:cNvPr id="85" name="Shape 83"/>
          <p:cNvSpPr/>
          <p:nvPr/>
        </p:nvSpPr>
        <p:spPr>
          <a:xfrm>
            <a:off x="7854696" y="3968496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7854696" y="399867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8878824" y="3968496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8878824" y="399867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9902952" y="3968496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9902952" y="399867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10927080" y="3968496"/>
            <a:ext cx="731520" cy="205740"/>
          </a:xfrm>
          <a:prstGeom prst="roundRect">
            <a:avLst>
              <a:gd name="adj" fmla="val 13333"/>
            </a:avLst>
          </a:prstGeom>
          <a:solidFill>
            <a:srgbClr val="EAF6EE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927080" y="3998671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B6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5486400" y="4224528"/>
            <a:ext cx="6318504" cy="7315"/>
          </a:xfrm>
          <a:prstGeom prst="line">
            <a:avLst/>
          </a:prstGeom>
          <a:noFill/>
          <a:ln w="12700">
            <a:solidFill>
              <a:srgbClr val="C9D6EE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486400" y="4279392"/>
            <a:ext cx="6318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8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Category-level comparison of typical tooling, not of any single product.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5486400" y="4572000"/>
            <a:ext cx="6318504" cy="804672"/>
          </a:xfrm>
          <a:prstGeom prst="roundRect">
            <a:avLst>
              <a:gd name="adj" fmla="val 5682"/>
            </a:avLst>
          </a:prstGeom>
          <a:solidFill>
            <a:srgbClr val="10256D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5669280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9C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RESULT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5669280" y="4864608"/>
            <a:ext cx="5952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planted weaknesses  ·  28 detected  ·  100% recall  ·  100% precision  ·  0 false positives</a:t>
            </a:r>
            <a:endParaRPr lang="en-US" sz="800" dirty="0"/>
          </a:p>
          <a:p>
            <a:pPr algn="l" indent="0" marL="0">
              <a:lnSpc>
                <a:spcPts val="11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CB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healthy entities and two innocent look-alikes — one that closes alerts in seconds but only through automation, one that is simply small — were correctly left unflagged.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84048" y="5440680"/>
            <a:ext cx="11420856" cy="886968"/>
          </a:xfrm>
          <a:prstGeom prst="roundRect">
            <a:avLst>
              <a:gd name="adj" fmla="val 5155"/>
            </a:avLst>
          </a:prstGeom>
          <a:solidFill>
            <a:srgbClr val="DCE6F7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566928" y="5559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LINKS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2487168" y="55686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4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each placeholder with your published URL before submission.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566928" y="5815584"/>
            <a:ext cx="352958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658368" y="591616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REPOSITORY   </a:t>
            </a:r>
            <a:pPr algn="ctr"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&lt;GITHUB URL&gt;</a:t>
            </a:r>
            <a:endParaRPr lang="en-US" sz="760" dirty="0"/>
          </a:p>
        </p:txBody>
      </p:sp>
      <p:sp>
        <p:nvSpPr>
          <p:cNvPr id="103" name="Shape 101"/>
          <p:cNvSpPr/>
          <p:nvPr/>
        </p:nvSpPr>
        <p:spPr>
          <a:xfrm>
            <a:off x="4279392" y="5815584"/>
            <a:ext cx="352958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370832" y="591616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(2 MINUTES)   </a:t>
            </a:r>
            <a:pPr algn="ctr"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&lt;VIDEO URL&gt;</a:t>
            </a:r>
            <a:endParaRPr lang="en-US" sz="760" dirty="0"/>
          </a:p>
        </p:txBody>
      </p:sp>
      <p:sp>
        <p:nvSpPr>
          <p:cNvPr id="105" name="Shape 103"/>
          <p:cNvSpPr/>
          <p:nvPr/>
        </p:nvSpPr>
        <p:spPr>
          <a:xfrm>
            <a:off x="7991856" y="5815584"/>
            <a:ext cx="352958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083296" y="591616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02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VALIDATION REPORT   </a:t>
            </a:r>
            <a:pPr algn="ctr"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&lt;REPORT URL&gt;</a:t>
            </a:r>
            <a:endParaRPr lang="en-US" sz="760" dirty="0"/>
          </a:p>
        </p:txBody>
      </p:sp>
      <p:sp>
        <p:nvSpPr>
          <p:cNvPr id="107" name="Shape 105"/>
          <p:cNvSpPr/>
          <p:nvPr/>
        </p:nvSpPr>
        <p:spPr>
          <a:xfrm>
            <a:off x="384048" y="6391656"/>
            <a:ext cx="11420856" cy="7315"/>
          </a:xfrm>
          <a:prstGeom prst="line">
            <a:avLst/>
          </a:prstGeom>
          <a:noFill/>
          <a:ln w="12700">
            <a:solidFill>
              <a:srgbClr val="C9D6EE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384048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·  Idea Submission  ·  Problem Statement SIH26157</a:t>
            </a:r>
            <a:endParaRPr lang="en-US" sz="800" dirty="0"/>
          </a:p>
        </p:txBody>
      </p:sp>
      <p:sp>
        <p:nvSpPr>
          <p:cNvPr id="109" name="Text 107"/>
          <p:cNvSpPr txBox="1"/>
          <p:nvPr/>
        </p:nvSpPr>
        <p:spPr>
          <a:xfrm>
            <a:off x="7232904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SAT-SA LENS   ·   &lt;TEAM NAME&gt;   ·   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SAT-SA Lens — SIH26157 Idea Submission</dc:title>
  <dc:subject>PptxGenJS Presentation</dc:subject>
  <dc:creator>SAT-SA Lens team</dc:creator>
  <cp:lastModifiedBy>SAT-SA Lens team</cp:lastModifiedBy>
  <cp:revision>1</cp:revision>
  <dcterms:created xsi:type="dcterms:W3CDTF">2026-09-28T00:25:01Z</dcterms:created>
  <dcterms:modified xsi:type="dcterms:W3CDTF">2026-09-28T00:25:01Z</dcterms:modified>
</cp:coreProperties>
</file>